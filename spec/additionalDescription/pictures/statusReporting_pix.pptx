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9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DDED48-7126-D8E8-66B1-89F5074FF2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FD846F1-C39F-46EB-28F8-02277B4BEB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F900198-7B2E-57F1-8B62-9FC140E14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9F7A0-F049-4A2E-B454-2D790620D6EB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764E15E-79C3-9935-27E1-FAE6A178A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C06A2D9-6C22-98D7-08EE-BCFA123F5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C9EF-F6CB-4BE5-8DB9-F8F4005B64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807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553701-47F9-CEFE-D841-ADD830AEF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4DC09DB-8E09-2A3B-D7F5-3B6EE2963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B2F7DD4-EC9F-E298-A541-F10C43B52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9F7A0-F049-4A2E-B454-2D790620D6EB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92E5E86-B9A6-35A7-808C-EA5A55884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58B93D4-E58F-1DF3-3990-F9DFADCA9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C9EF-F6CB-4BE5-8DB9-F8F4005B64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1491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BE252A-CFCF-0956-FF36-65316B10D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96C2497-F0C7-7603-4F9B-4E297AF79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D993FD2-9D6C-7F85-B54C-4E06DDD97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9F7A0-F049-4A2E-B454-2D790620D6EB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969AE3A-5659-EC7A-4050-88171FB5C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F9E48CA-0C23-7D52-F760-7A933F242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C9EF-F6CB-4BE5-8DB9-F8F4005B64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826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326970-627D-B398-A59F-C2018AEEF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D8A879-10A7-18D5-B0F8-D248F4C6D0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4F17F3F-AF07-4721-D152-71941A0EEC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1B72C5B-F1F2-7FC2-369C-1F050A894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9F7A0-F049-4A2E-B454-2D790620D6EB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9932255-4408-2731-1F78-BE90532F9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5630C15-2809-573F-0AD3-6991B7018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C9EF-F6CB-4BE5-8DB9-F8F4005B64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9213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205E8A-25F8-8FB0-9ADB-0F6FB97DB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576A388-2DDE-BD08-BBDF-86D28BEBFF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C599990-4CA5-E363-3212-607A979CEC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CC0FCFE-9295-170B-48DF-777B5BF430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FE3063B-D541-0C22-7649-0E29D07B8B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F7C9C1B-024B-4D12-46AF-0DC2C0C9E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9F7A0-F049-4A2E-B454-2D790620D6EB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907ACD7-68AE-A7C1-25E0-8CAF9F99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FBDFDD0-3D81-F629-BB37-2BAB7D53F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C9EF-F6CB-4BE5-8DB9-F8F4005B64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9127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A9E555-D29E-0550-7314-D73A88556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50E54A-B73F-7497-56C9-40971AB37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9F7A0-F049-4A2E-B454-2D790620D6EB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44B7326-A3CD-D672-EFC1-35544D562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AE5F5A0-B76C-2F4F-9A11-57956395A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C9EF-F6CB-4BE5-8DB9-F8F4005B64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8647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55FE480-AEB7-1AEC-E3BA-473543111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9F7A0-F049-4A2E-B454-2D790620D6EB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ECE67D6-2A7C-BCA0-7124-98673A847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6EEB0E0-506E-717C-7E2F-6B3DBE7D1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C9EF-F6CB-4BE5-8DB9-F8F4005B64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6599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606185-4A8E-33D7-6B6A-B6993F1BC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5FDA553-4621-2BD9-F8FE-B5C2D0BAA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D40E53E-0355-6789-9D9F-AA0001116D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3637B44-A921-0B58-F9B5-AD4181AC2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9F7A0-F049-4A2E-B454-2D790620D6EB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6B8BB31-8F96-BB3A-94C6-6237E64EB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3C7D60C-5E68-DEE5-BE8E-6C1013CD1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C9EF-F6CB-4BE5-8DB9-F8F4005B64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5956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A5F50F-6B27-4E5F-C986-D27160212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B454B19-0A16-A0A6-5D6D-31D67A1A12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2613395-7C2C-320F-2D51-E9700CFE44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D4B2952-8735-91F8-3518-A920D2FB6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9F7A0-F049-4A2E-B454-2D790620D6EB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C684E0C-9E94-B8A7-F536-41F6B2565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A581FEC-1436-195E-8E64-3B61B4E7B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C9EF-F6CB-4BE5-8DB9-F8F4005B64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0573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B5D534-4257-26FF-23FF-76F6008A5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69D3564-7F7D-2EE0-A2D9-970F8D4D83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3CEDA63-7DB1-C7EC-5FA6-17C495764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9F7A0-F049-4A2E-B454-2D790620D6EB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D62090-8E48-8101-372A-2E7113ABA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81C55FF-41FC-68EE-6DF9-42AD97BBC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C9EF-F6CB-4BE5-8DB9-F8F4005B64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1444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73F16EF-F4FD-B145-13FD-75823A326D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CF36D7C-FD65-A402-2CE6-E37B183BEC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E90A84-3164-8A63-4CC2-8AE916C33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9F7A0-F049-4A2E-B454-2D790620D6EB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6262FF-F328-6C9B-19C0-B19839F73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C32C8D2-EA99-B442-8A76-380B45A8D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C9EF-F6CB-4BE5-8DB9-F8F4005B64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6128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B5B741A-E85C-0674-8584-3145067DA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9E47EA6-26A1-5265-70E4-18F85081C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184F5E8-CEC9-E65D-7260-2ED158A186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09F7A0-F049-4A2E-B454-2D790620D6EB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3A170EF-C21F-EF75-92DE-E5AF677A96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231BB71-FB3E-BD78-19BC-A5335AD25B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0CC9EF-F6CB-4BE5-8DB9-F8F4005B64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2436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34D8D5A6-4B1A-AF11-98DD-5B208C4FE14D}"/>
              </a:ext>
            </a:extLst>
          </p:cNvPr>
          <p:cNvSpPr txBox="1"/>
          <p:nvPr/>
        </p:nvSpPr>
        <p:spPr>
          <a:xfrm>
            <a:off x="553980" y="367095"/>
            <a:ext cx="33572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/>
              <a:t>Report </a:t>
            </a:r>
          </a:p>
          <a:p>
            <a:pPr marL="285750" indent="-285750">
              <a:buFontTx/>
              <a:buChar char="-"/>
            </a:pPr>
            <a:r>
              <a:rPr lang="de-DE" sz="1200"/>
              <a:t>per hour</a:t>
            </a:r>
          </a:p>
          <a:p>
            <a:pPr marL="285750" indent="-285750">
              <a:buFontTx/>
              <a:buChar char="-"/>
            </a:pPr>
            <a:r>
              <a:rPr lang="de-DE" sz="1200"/>
              <a:t>For last 24h</a:t>
            </a:r>
          </a:p>
          <a:p>
            <a:endParaRPr lang="de-DE" sz="1200"/>
          </a:p>
          <a:p>
            <a:r>
              <a:rPr lang="de-DE" sz="1200"/>
              <a:t>Pass/fail for:</a:t>
            </a:r>
          </a:p>
          <a:p>
            <a:pPr marL="228600" indent="-228600">
              <a:buAutoNum type="arabicPeriod"/>
            </a:pPr>
            <a:r>
              <a:rPr lang="de-DE" sz="1200"/>
              <a:t>Time triggered update interval (CC, QM)</a:t>
            </a:r>
          </a:p>
          <a:p>
            <a:pPr marL="228600" indent="-228600">
              <a:buAutoNum type="arabicPeriod"/>
            </a:pPr>
            <a:r>
              <a:rPr lang="de-DE" sz="1200"/>
              <a:t>Connection status change: delete/update</a:t>
            </a:r>
          </a:p>
          <a:p>
            <a:pPr marL="228600" indent="-228600">
              <a:buAutoNum type="arabicPeriod"/>
            </a:pPr>
            <a:r>
              <a:rPr lang="de-DE" sz="1200"/>
              <a:t>Device notification processing: pass/fail</a:t>
            </a:r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67CDA927-D25E-7C79-CB77-E00BC8C28B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55019"/>
              </p:ext>
            </p:extLst>
          </p:nvPr>
        </p:nvGraphicFramePr>
        <p:xfrm>
          <a:off x="553980" y="3129046"/>
          <a:ext cx="8843649" cy="360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2639">
                  <a:extLst>
                    <a:ext uri="{9D8B030D-6E8A-4147-A177-3AD203B41FA5}">
                      <a16:colId xmlns:a16="http://schemas.microsoft.com/office/drawing/2014/main" val="3164488082"/>
                    </a:ext>
                  </a:extLst>
                </a:gridCol>
                <a:gridCol w="6581010">
                  <a:extLst>
                    <a:ext uri="{9D8B030D-6E8A-4147-A177-3AD203B41FA5}">
                      <a16:colId xmlns:a16="http://schemas.microsoft.com/office/drawing/2014/main" val="1292067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10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7995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100"/>
                        <a:t>periodicCcUpdateSuccesses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Is increased by 1 for the respective timeslot every time a periodic complete CC update from either slidingWindow or QualityManagement was completed successfully.</a:t>
                      </a:r>
                    </a:p>
                    <a:p>
                      <a:r>
                        <a:rPr lang="de-DE" sz="1100"/>
                        <a:t>Updates from on-demand calls of live services are not to be considered.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741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100"/>
                        <a:t>periodicCcUpdateFails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Is increased by 1  for the respective timeslot every time a periodic complete CC update from either slidingWindow or QualityManagement has failed.</a:t>
                      </a:r>
                    </a:p>
                    <a:p>
                      <a:r>
                        <a:rPr lang="de-DE" sz="1100"/>
                        <a:t>Updates from on-demand calls of live services are not to be considered.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843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100"/>
                        <a:t>notificationCcUpdateSuccesses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Is increased by 1 for the respective timeslot every time the CC update was successful after a device notification was received.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5848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100"/>
                        <a:t>notificationCcUpdateFails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/>
                        <a:t>Is increased by 1 for the respective timeslot every time the CC update failed after a device notification was received.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9660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100"/>
                        <a:t>connectionStateCcUpdateSuccesses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Is increased by 1 for the respective timeslot every time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de-DE" sz="1100"/>
                        <a:t>Deletion of a no longer connected device from MWDI was successful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de-DE" sz="1100"/>
                        <a:t>Addition to MWDI and caching the CC of a newly connected devices was successful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7094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100"/>
                        <a:t>connectionStateCcUpdateFails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Is increased by 1 for the respective timeslot every time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de-DE" sz="1100"/>
                        <a:t>Deletion of a no longer connected device from MWDI failed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de-DE" sz="1100"/>
                        <a:t>Addition to MWDI and caching the CC of a newly connected devices failed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5854404"/>
                  </a:ext>
                </a:extLst>
              </a:tr>
            </a:tbl>
          </a:graphicData>
        </a:graphic>
      </p:graphicFrame>
      <p:sp>
        <p:nvSpPr>
          <p:cNvPr id="8" name="Textfeld 7">
            <a:extLst>
              <a:ext uri="{FF2B5EF4-FFF2-40B4-BE49-F238E27FC236}">
                <a16:creationId xmlns:a16="http://schemas.microsoft.com/office/drawing/2014/main" id="{2ED8D282-508D-CEC6-216C-A01249158333}"/>
              </a:ext>
            </a:extLst>
          </p:cNvPr>
          <p:cNvSpPr txBox="1"/>
          <p:nvPr/>
        </p:nvSpPr>
        <p:spPr>
          <a:xfrm>
            <a:off x="553980" y="2117402"/>
            <a:ext cx="33572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/>
              <a:t>Add quality metrics:</a:t>
            </a:r>
          </a:p>
          <a:p>
            <a:pPr marL="171450" indent="-171450">
              <a:buFontTx/>
              <a:buChar char="-"/>
            </a:pPr>
            <a:r>
              <a:rPr lang="de-DE" sz="1200"/>
              <a:t>for configurable number of hours (default: 24)</a:t>
            </a:r>
          </a:p>
          <a:p>
            <a:pPr marL="171450" indent="-171450">
              <a:buFontTx/>
              <a:buChar char="-"/>
            </a:pPr>
            <a:r>
              <a:rPr lang="de-DE" sz="1200"/>
              <a:t>Per hour</a:t>
            </a:r>
          </a:p>
          <a:p>
            <a:pPr marL="171450" indent="-171450">
              <a:buFontTx/>
              <a:buChar char="-"/>
            </a:pPr>
            <a:r>
              <a:rPr lang="de-DE" sz="1200"/>
              <a:t>Key = day+hour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E9429997-93C6-5203-6E9C-843F00FF026F}"/>
              </a:ext>
            </a:extLst>
          </p:cNvPr>
          <p:cNvSpPr txBox="1"/>
          <p:nvPr/>
        </p:nvSpPr>
        <p:spPr>
          <a:xfrm>
            <a:off x="9539326" y="3429000"/>
            <a:ext cx="241560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/>
              <a:t>The respective timeslot is determined by</a:t>
            </a:r>
          </a:p>
          <a:p>
            <a:r>
              <a:rPr lang="de-DE" sz="1100"/>
              <a:t>Day+hour, e.g. for 2010-11-20T14:00:00+01:00</a:t>
            </a:r>
          </a:p>
          <a:p>
            <a:r>
              <a:rPr lang="de-DE" sz="1100"/>
              <a:t>this would be 20101120T14</a:t>
            </a:r>
          </a:p>
        </p:txBody>
      </p:sp>
    </p:spTree>
    <p:extLst>
      <p:ext uri="{BB962C8B-B14F-4D97-AF65-F5344CB8AC3E}">
        <p14:creationId xmlns:p14="http://schemas.microsoft.com/office/powerpoint/2010/main" val="339524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ced55a7-e3ff-412d-8b16-16c16d29a51e}" enabled="1" method="Privileged" siteId="{9744600e-3e04-492e-baa1-25ec245c6f1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267</Words>
  <Application>Microsoft Office PowerPoint</Application>
  <PresentationFormat>Breitbild</PresentationFormat>
  <Paragraphs>35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>Telefónica Germany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Katharina Mohr (External)</dc:creator>
  <cp:lastModifiedBy>Katharina Mohr (External)</cp:lastModifiedBy>
  <cp:revision>16</cp:revision>
  <dcterms:created xsi:type="dcterms:W3CDTF">2026-07-09T11:49:01Z</dcterms:created>
  <dcterms:modified xsi:type="dcterms:W3CDTF">2026-07-09T12:39:33Z</dcterms:modified>
</cp:coreProperties>
</file>